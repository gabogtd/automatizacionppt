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0" r:id="rId5"/>
    <p:sldMasterId id="2147483659" r:id="rId6"/>
    <p:sldMasterId id="2147483667" r:id="rId7"/>
  </p:sldMasterIdLst>
  <p:notesMasterIdLst>
    <p:notesMasterId r:id="rId22"/>
  </p:notesMasterIdLst>
  <p:handoutMasterIdLst>
    <p:handoutMasterId r:id="rId23"/>
  </p:handoutMasterIdLst>
  <p:sldIdLst>
    <p:sldId id="286" r:id="rId8"/>
    <p:sldId id="366" r:id="rId9"/>
    <p:sldId id="362" r:id="rId10"/>
    <p:sldId id="373" r:id="rId11"/>
    <p:sldId id="367" r:id="rId12"/>
    <p:sldId id="374" r:id="rId13"/>
    <p:sldId id="368" r:id="rId14"/>
    <p:sldId id="363" r:id="rId15"/>
    <p:sldId id="365" r:id="rId16"/>
    <p:sldId id="369" r:id="rId17"/>
    <p:sldId id="372" r:id="rId18"/>
    <p:sldId id="312" r:id="rId19"/>
    <p:sldId id="364" r:id="rId20"/>
    <p:sldId id="371" r:id="rId2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498C"/>
    <a:srgbClr val="F7A400"/>
    <a:srgbClr val="5A7EBE"/>
    <a:srgbClr val="4DBA9C"/>
    <a:srgbClr val="DC9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F045DD-9C3C-4D20-BF0F-5FB114D93F68}" v="84" dt="2026-09-24T17:56:15.1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>
        <p:scale>
          <a:sx n="66" d="100"/>
          <a:sy n="66" d="100"/>
        </p:scale>
        <p:origin x="544" y="-1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Luciano Martinez Perez" userId="4836a14a-3fed-4d1e-8362-56d7aefc2c2a" providerId="ADAL" clId="{A7E7CBEA-CC19-459F-8248-A078408BCCE7}"/>
    <pc:docChg chg="undo custSel addSld modSld">
      <pc:chgData name="Gabriel Luciano Martinez Perez" userId="4836a14a-3fed-4d1e-8362-56d7aefc2c2a" providerId="ADAL" clId="{A7E7CBEA-CC19-459F-8248-A078408BCCE7}" dt="2026-09-24T17:57:44.654" v="472" actId="14734"/>
      <pc:docMkLst>
        <pc:docMk/>
      </pc:docMkLst>
      <pc:sldChg chg="addSp modSp mod">
        <pc:chgData name="Gabriel Luciano Martinez Perez" userId="4836a14a-3fed-4d1e-8362-56d7aefc2c2a" providerId="ADAL" clId="{A7E7CBEA-CC19-459F-8248-A078408BCCE7}" dt="2026-09-23T19:41:41.490" v="358" actId="122"/>
        <pc:sldMkLst>
          <pc:docMk/>
          <pc:sldMk cId="791480370" sldId="362"/>
        </pc:sldMkLst>
        <pc:graphicFrameChg chg="add mod modGraphic">
          <ac:chgData name="Gabriel Luciano Martinez Perez" userId="4836a14a-3fed-4d1e-8362-56d7aefc2c2a" providerId="ADAL" clId="{A7E7CBEA-CC19-459F-8248-A078408BCCE7}" dt="2026-09-23T19:41:41.490" v="358" actId="122"/>
          <ac:graphicFrameMkLst>
            <pc:docMk/>
            <pc:sldMk cId="791480370" sldId="362"/>
            <ac:graphicFrameMk id="4" creationId="{962A7041-4E45-D453-8735-665D207EE011}"/>
          </ac:graphicFrameMkLst>
        </pc:graphicFrameChg>
        <pc:graphicFrameChg chg="mod modGraphic">
          <ac:chgData name="Gabriel Luciano Martinez Perez" userId="4836a14a-3fed-4d1e-8362-56d7aefc2c2a" providerId="ADAL" clId="{A7E7CBEA-CC19-459F-8248-A078408BCCE7}" dt="2026-09-23T18:39:40.217" v="353" actId="20577"/>
          <ac:graphicFrameMkLst>
            <pc:docMk/>
            <pc:sldMk cId="791480370" sldId="362"/>
            <ac:graphicFrameMk id="6" creationId="{43D9DF18-AEB5-23C1-4C17-73A0D90CCAE8}"/>
          </ac:graphicFrameMkLst>
        </pc:graphicFrameChg>
      </pc:sldChg>
      <pc:sldChg chg="addSp delSp modSp mod">
        <pc:chgData name="Gabriel Luciano Martinez Perez" userId="4836a14a-3fed-4d1e-8362-56d7aefc2c2a" providerId="ADAL" clId="{A7E7CBEA-CC19-459F-8248-A078408BCCE7}" dt="2026-09-24T17:57:25.314" v="471" actId="14100"/>
        <pc:sldMkLst>
          <pc:docMk/>
          <pc:sldMk cId="2527303944" sldId="367"/>
        </pc:sldMkLst>
        <pc:spChg chg="del">
          <ac:chgData name="Gabriel Luciano Martinez Perez" userId="4836a14a-3fed-4d1e-8362-56d7aefc2c2a" providerId="ADAL" clId="{A7E7CBEA-CC19-459F-8248-A078408BCCE7}" dt="2026-09-24T17:57:10.663" v="469" actId="478"/>
          <ac:spMkLst>
            <pc:docMk/>
            <pc:sldMk cId="2527303944" sldId="367"/>
            <ac:spMk id="3" creationId="{47EC82AD-C51B-EA32-444F-05DA69685AAD}"/>
          </ac:spMkLst>
        </pc:spChg>
        <pc:spChg chg="add del">
          <ac:chgData name="Gabriel Luciano Martinez Perez" userId="4836a14a-3fed-4d1e-8362-56d7aefc2c2a" providerId="ADAL" clId="{A7E7CBEA-CC19-459F-8248-A078408BCCE7}" dt="2026-09-24T17:39:51.614" v="361" actId="478"/>
          <ac:spMkLst>
            <pc:docMk/>
            <pc:sldMk cId="2527303944" sldId="367"/>
            <ac:spMk id="5" creationId="{2FDC196C-5830-E8A9-36FE-41E80A51B265}"/>
          </ac:spMkLst>
        </pc:spChg>
        <pc:graphicFrameChg chg="add mod">
          <ac:chgData name="Gabriel Luciano Martinez Perez" userId="4836a14a-3fed-4d1e-8362-56d7aefc2c2a" providerId="ADAL" clId="{A7E7CBEA-CC19-459F-8248-A078408BCCE7}" dt="2026-09-24T17:57:20.548" v="470" actId="1076"/>
          <ac:graphicFrameMkLst>
            <pc:docMk/>
            <pc:sldMk cId="2527303944" sldId="367"/>
            <ac:graphicFrameMk id="7" creationId="{07EA1A66-8F31-3F4A-B882-EA8E694E811C}"/>
          </ac:graphicFrameMkLst>
        </pc:graphicFrameChg>
        <pc:graphicFrameChg chg="add mod modGraphic">
          <ac:chgData name="Gabriel Luciano Martinez Perez" userId="4836a14a-3fed-4d1e-8362-56d7aefc2c2a" providerId="ADAL" clId="{A7E7CBEA-CC19-459F-8248-A078408BCCE7}" dt="2026-09-24T17:57:25.314" v="471" actId="14100"/>
          <ac:graphicFrameMkLst>
            <pc:docMk/>
            <pc:sldMk cId="2527303944" sldId="367"/>
            <ac:graphicFrameMk id="9" creationId="{24658CF4-F2A7-EBB3-DFF0-B53EF1AAD3C7}"/>
          </ac:graphicFrameMkLst>
        </pc:graphicFrameChg>
      </pc:sldChg>
      <pc:sldChg chg="addSp delSp modSp mod">
        <pc:chgData name="Gabriel Luciano Martinez Perez" userId="4836a14a-3fed-4d1e-8362-56d7aefc2c2a" providerId="ADAL" clId="{A7E7CBEA-CC19-459F-8248-A078408BCCE7}" dt="2026-09-23T19:41:46.851" v="359" actId="122"/>
        <pc:sldMkLst>
          <pc:docMk/>
          <pc:sldMk cId="2825301466" sldId="373"/>
        </pc:sldMkLst>
        <pc:spChg chg="add mod">
          <ac:chgData name="Gabriel Luciano Martinez Perez" userId="4836a14a-3fed-4d1e-8362-56d7aefc2c2a" providerId="ADAL" clId="{A7E7CBEA-CC19-459F-8248-A078408BCCE7}" dt="2026-09-23T17:24:32.742" v="26"/>
          <ac:spMkLst>
            <pc:docMk/>
            <pc:sldMk cId="2825301466" sldId="373"/>
            <ac:spMk id="2" creationId="{8E8C632C-1B0D-6FF6-323F-3F36235FA58D}"/>
          </ac:spMkLst>
        </pc:spChg>
        <pc:graphicFrameChg chg="add mod modGraphic">
          <ac:chgData name="Gabriel Luciano Martinez Perez" userId="4836a14a-3fed-4d1e-8362-56d7aefc2c2a" providerId="ADAL" clId="{A7E7CBEA-CC19-459F-8248-A078408BCCE7}" dt="2026-09-23T19:41:46.851" v="359" actId="122"/>
          <ac:graphicFrameMkLst>
            <pc:docMk/>
            <pc:sldMk cId="2825301466" sldId="373"/>
            <ac:graphicFrameMk id="3" creationId="{4EAA4931-C15E-EBB5-51CF-88250A5704AB}"/>
          </ac:graphicFrameMkLst>
        </pc:graphicFrameChg>
        <pc:graphicFrameChg chg="del">
          <ac:chgData name="Gabriel Luciano Martinez Perez" userId="4836a14a-3fed-4d1e-8362-56d7aefc2c2a" providerId="ADAL" clId="{A7E7CBEA-CC19-459F-8248-A078408BCCE7}" dt="2026-09-23T14:52:23.977" v="20" actId="478"/>
          <ac:graphicFrameMkLst>
            <pc:docMk/>
            <pc:sldMk cId="2825301466" sldId="373"/>
            <ac:graphicFrameMk id="4" creationId="{F0181B03-93D3-77D9-1981-03FADA8C8839}"/>
          </ac:graphicFrameMkLst>
        </pc:graphicFrameChg>
        <pc:graphicFrameChg chg="del">
          <ac:chgData name="Gabriel Luciano Martinez Perez" userId="4836a14a-3fed-4d1e-8362-56d7aefc2c2a" providerId="ADAL" clId="{A7E7CBEA-CC19-459F-8248-A078408BCCE7}" dt="2026-09-23T14:52:31.071" v="21" actId="478"/>
          <ac:graphicFrameMkLst>
            <pc:docMk/>
            <pc:sldMk cId="2825301466" sldId="373"/>
            <ac:graphicFrameMk id="6" creationId="{FF6FE1F0-AEF1-577B-48EB-CD7A369372C0}"/>
          </ac:graphicFrameMkLst>
        </pc:graphicFrameChg>
      </pc:sldChg>
      <pc:sldChg chg="addSp delSp modSp new mod">
        <pc:chgData name="Gabriel Luciano Martinez Perez" userId="4836a14a-3fed-4d1e-8362-56d7aefc2c2a" providerId="ADAL" clId="{A7E7CBEA-CC19-459F-8248-A078408BCCE7}" dt="2026-09-24T17:57:44.654" v="472" actId="14734"/>
        <pc:sldMkLst>
          <pc:docMk/>
          <pc:sldMk cId="213039959" sldId="374"/>
        </pc:sldMkLst>
        <pc:spChg chg="del">
          <ac:chgData name="Gabriel Luciano Martinez Perez" userId="4836a14a-3fed-4d1e-8362-56d7aefc2c2a" providerId="ADAL" clId="{A7E7CBEA-CC19-459F-8248-A078408BCCE7}" dt="2026-09-24T17:43:30.659" v="440" actId="478"/>
          <ac:spMkLst>
            <pc:docMk/>
            <pc:sldMk cId="213039959" sldId="374"/>
            <ac:spMk id="2" creationId="{272FB36A-48BD-6489-76B4-76B3E7D120C3}"/>
          </ac:spMkLst>
        </pc:spChg>
        <pc:spChg chg="del">
          <ac:chgData name="Gabriel Luciano Martinez Perez" userId="4836a14a-3fed-4d1e-8362-56d7aefc2c2a" providerId="ADAL" clId="{A7E7CBEA-CC19-459F-8248-A078408BCCE7}" dt="2026-09-24T17:43:27.631" v="439" actId="478"/>
          <ac:spMkLst>
            <pc:docMk/>
            <pc:sldMk cId="213039959" sldId="374"/>
            <ac:spMk id="3" creationId="{E8FAC483-9FDC-4833-1D59-311C56AB86CD}"/>
          </ac:spMkLst>
        </pc:spChg>
        <pc:spChg chg="add mod">
          <ac:chgData name="Gabriel Luciano Martinez Perez" userId="4836a14a-3fed-4d1e-8362-56d7aefc2c2a" providerId="ADAL" clId="{A7E7CBEA-CC19-459F-8248-A078408BCCE7}" dt="2026-09-24T17:43:37.710" v="441"/>
          <ac:spMkLst>
            <pc:docMk/>
            <pc:sldMk cId="213039959" sldId="374"/>
            <ac:spMk id="4" creationId="{82164246-DA0F-3211-C1DB-5C213652E323}"/>
          </ac:spMkLst>
        </pc:spChg>
        <pc:graphicFrameChg chg="add mod modGraphic">
          <ac:chgData name="Gabriel Luciano Martinez Perez" userId="4836a14a-3fed-4d1e-8362-56d7aefc2c2a" providerId="ADAL" clId="{A7E7CBEA-CC19-459F-8248-A078408BCCE7}" dt="2026-09-24T17:57:44.654" v="472" actId="14734"/>
          <ac:graphicFrameMkLst>
            <pc:docMk/>
            <pc:sldMk cId="213039959" sldId="374"/>
            <ac:graphicFrameMk id="6" creationId="{6D84A15B-D503-DD27-1D2C-5AA2DC98E57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3B584-47B6-ED40-8B55-F103E1804A8D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37AC7-D485-4740-81CA-57859A8228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7485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C9158-C6EB-4F96-B51E-A344F187A787}" type="datetimeFigureOut">
              <a:rPr lang="es-CL" smtClean="0"/>
              <a:t>24-09-2026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E7AEC4-D32E-48E6-9195-87226F7334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620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782637" y="2876550"/>
            <a:ext cx="6116551" cy="84420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s-ES_tradnl"/>
              <a:t>TEXTO PORTADA 1</a:t>
            </a:r>
          </a:p>
        </p:txBody>
      </p:sp>
    </p:spTree>
    <p:extLst>
      <p:ext uri="{BB962C8B-B14F-4D97-AF65-F5344CB8AC3E}">
        <p14:creationId xmlns:p14="http://schemas.microsoft.com/office/powerpoint/2010/main" val="862337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7"/>
          <p:cNvSpPr txBox="1">
            <a:spLocks/>
          </p:cNvSpPr>
          <p:nvPr userDrawn="1"/>
        </p:nvSpPr>
        <p:spPr>
          <a:xfrm>
            <a:off x="782637" y="2876550"/>
            <a:ext cx="3971323" cy="1696607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Tx/>
              <a:buNone/>
              <a:defRPr sz="3200" kern="1200">
                <a:solidFill>
                  <a:srgbClr val="2A498C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>
                <a:solidFill>
                  <a:schemeClr val="bg1"/>
                </a:solidFill>
              </a:rPr>
              <a:t>Haga clic para modificar el estilo de texto del patrón</a:t>
            </a:r>
          </a:p>
        </p:txBody>
      </p:sp>
      <p:sp>
        <p:nvSpPr>
          <p:cNvPr id="3" name="Marcador de texto 6">
            <a:extLst>
              <a:ext uri="{FF2B5EF4-FFF2-40B4-BE49-F238E27FC236}">
                <a16:creationId xmlns:a16="http://schemas.microsoft.com/office/drawing/2014/main" id="{912AA3BE-787C-4817-81FB-CA154B4708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77975" y="1777821"/>
            <a:ext cx="9248176" cy="4364038"/>
          </a:xfrm>
        </p:spPr>
        <p:txBody>
          <a:bodyPr/>
          <a:lstStyle>
            <a:lvl1pPr marL="0" indent="0">
              <a:buNone/>
              <a:defRPr>
                <a:solidFill>
                  <a:srgbClr val="2A498C"/>
                </a:solidFill>
              </a:defRPr>
            </a:lvl1pPr>
            <a:lvl2pPr>
              <a:defRPr>
                <a:solidFill>
                  <a:srgbClr val="2A498C"/>
                </a:solidFill>
              </a:defRPr>
            </a:lvl2pPr>
            <a:lvl3pPr>
              <a:defRPr>
                <a:solidFill>
                  <a:srgbClr val="2A498C"/>
                </a:solidFill>
              </a:defRPr>
            </a:lvl3pPr>
            <a:lvl4pPr>
              <a:defRPr>
                <a:solidFill>
                  <a:srgbClr val="2A498C"/>
                </a:solidFill>
              </a:defRPr>
            </a:lvl4pPr>
            <a:lvl5pPr>
              <a:defRPr>
                <a:solidFill>
                  <a:srgbClr val="2A498C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8539B87-59BA-4740-9771-2EB128ADA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614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387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87B5294B-CCD3-494A-AD7C-9EC523E98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614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BAB3CFC-C8AC-4416-B218-424E1C9B6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2A498C"/>
                </a:solidFill>
              </a:defRPr>
            </a:lvl1pPr>
            <a:lvl2pPr>
              <a:defRPr>
                <a:solidFill>
                  <a:srgbClr val="2A498C"/>
                </a:solidFill>
              </a:defRPr>
            </a:lvl2pPr>
            <a:lvl3pPr>
              <a:defRPr>
                <a:solidFill>
                  <a:srgbClr val="2A498C"/>
                </a:solidFill>
              </a:defRPr>
            </a:lvl3pPr>
            <a:lvl4pPr>
              <a:defRPr>
                <a:solidFill>
                  <a:srgbClr val="2A498C"/>
                </a:solidFill>
              </a:defRPr>
            </a:lvl4pPr>
            <a:lvl5pPr>
              <a:defRPr>
                <a:solidFill>
                  <a:srgbClr val="2A498C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3152B246-93CA-4C3A-9ECF-C50271CC4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2A498C"/>
                </a:solidFill>
              </a:defRPr>
            </a:lvl1pPr>
            <a:lvl2pPr>
              <a:defRPr>
                <a:solidFill>
                  <a:srgbClr val="2A498C"/>
                </a:solidFill>
              </a:defRPr>
            </a:lvl2pPr>
            <a:lvl3pPr>
              <a:defRPr>
                <a:solidFill>
                  <a:srgbClr val="2A498C"/>
                </a:solidFill>
              </a:defRPr>
            </a:lvl3pPr>
            <a:lvl4pPr>
              <a:defRPr>
                <a:solidFill>
                  <a:srgbClr val="2A498C"/>
                </a:solidFill>
              </a:defRPr>
            </a:lvl4pPr>
            <a:lvl5pPr>
              <a:defRPr>
                <a:solidFill>
                  <a:srgbClr val="2A498C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087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CBC8607-493F-438A-A34A-CF025C30C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512" y="1433170"/>
            <a:ext cx="3797240" cy="1552162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2A498C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5C62F05-0284-4BAB-918D-7D90C611F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3378" y="1433170"/>
            <a:ext cx="5960304" cy="4812354"/>
          </a:xfrm>
        </p:spPr>
        <p:txBody>
          <a:bodyPr/>
          <a:lstStyle>
            <a:lvl1pPr>
              <a:defRPr sz="3200">
                <a:solidFill>
                  <a:srgbClr val="4F4F4F"/>
                </a:solidFill>
              </a:defRPr>
            </a:lvl1pPr>
            <a:lvl2pPr>
              <a:defRPr sz="2800">
                <a:solidFill>
                  <a:srgbClr val="4F4F4F"/>
                </a:solidFill>
              </a:defRPr>
            </a:lvl2pPr>
            <a:lvl3pPr>
              <a:defRPr sz="2400">
                <a:solidFill>
                  <a:srgbClr val="4F4F4F"/>
                </a:solidFill>
              </a:defRPr>
            </a:lvl3pPr>
            <a:lvl4pPr>
              <a:defRPr sz="2000">
                <a:solidFill>
                  <a:srgbClr val="4F4F4F"/>
                </a:solidFill>
              </a:defRPr>
            </a:lvl4pPr>
            <a:lvl5pPr>
              <a:defRPr sz="2000">
                <a:solidFill>
                  <a:srgbClr val="4F4F4F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BBB096AB-8199-4D79-A09C-89CE1A4B7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512" y="2980723"/>
            <a:ext cx="3797240" cy="3269411"/>
          </a:xfrm>
        </p:spPr>
        <p:txBody>
          <a:bodyPr/>
          <a:lstStyle>
            <a:lvl1pPr marL="0" indent="0">
              <a:buNone/>
              <a:defRPr sz="1600">
                <a:solidFill>
                  <a:srgbClr val="4F4F4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F45165-2CF0-4455-9972-973F4A58BA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7263" y="310209"/>
            <a:ext cx="8126412" cy="595313"/>
          </a:xfrm>
        </p:spPr>
        <p:txBody>
          <a:bodyPr/>
          <a:lstStyle>
            <a:lvl1pPr marL="0" indent="0"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Haga clic para agregar Título 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585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A31923-BA53-43C8-95F8-70C0CB20F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15E101-5A8B-4561-8680-AD36F7B3A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C0744D-D953-4DAA-BD3B-B9041D4E3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0DA9-3189-4739-9EBD-CC771F8D73C5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E32A08-1D39-4181-AC55-F07CE8BC9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687399-3B0B-4A20-984A-2976A9C08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9F11-F120-4C77-85B8-EA5E1348ED0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5893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8" y="6163102"/>
            <a:ext cx="1879825" cy="639547"/>
          </a:xfrm>
          <a:prstGeom prst="rect">
            <a:avLst/>
          </a:prstGeom>
          <a:effectLst/>
        </p:spPr>
      </p:pic>
      <p:sp>
        <p:nvSpPr>
          <p:cNvPr id="10" name="Marcador de texto 9"/>
          <p:cNvSpPr>
            <a:spLocks noGrp="1"/>
          </p:cNvSpPr>
          <p:nvPr>
            <p:ph type="body" sz="quarter" idx="10" hasCustomPrompt="1"/>
          </p:nvPr>
        </p:nvSpPr>
        <p:spPr>
          <a:xfrm>
            <a:off x="527052" y="252413"/>
            <a:ext cx="11169649" cy="584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pc="3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Haga clic para modificar el texto</a:t>
            </a:r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1"/>
          </p:nvPr>
        </p:nvSpPr>
        <p:spPr>
          <a:xfrm>
            <a:off x="527051" y="1192214"/>
            <a:ext cx="11170201" cy="4294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spc="3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  <a:lvl2pPr>
              <a:defRPr sz="2400" spc="3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2pPr>
            <a:lvl3pPr>
              <a:defRPr sz="2400" spc="3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3pPr>
            <a:lvl4pPr>
              <a:defRPr sz="2400" spc="3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4pPr>
            <a:lvl5pPr>
              <a:defRPr sz="2400" spc="3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363415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716D2F82-6F13-45A5-AF60-B489D12E67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6478" y="2000431"/>
            <a:ext cx="2568579" cy="3667124"/>
          </a:xfrm>
        </p:spPr>
        <p:txBody>
          <a:bodyPr>
            <a:normAutofit/>
          </a:bodyPr>
          <a:lstStyle>
            <a:lvl1pPr>
              <a:defRPr sz="2000">
                <a:solidFill>
                  <a:srgbClr val="2A498C"/>
                </a:solidFill>
              </a:defRPr>
            </a:lvl1pPr>
            <a:lvl2pPr>
              <a:defRPr>
                <a:solidFill>
                  <a:srgbClr val="2A498C"/>
                </a:solidFill>
              </a:defRPr>
            </a:lvl2pPr>
            <a:lvl3pPr>
              <a:defRPr>
                <a:solidFill>
                  <a:srgbClr val="2A498C"/>
                </a:solidFill>
              </a:defRPr>
            </a:lvl3pPr>
            <a:lvl4pPr>
              <a:defRPr>
                <a:solidFill>
                  <a:srgbClr val="2A498C"/>
                </a:solidFill>
              </a:defRPr>
            </a:lvl4pPr>
            <a:lvl5pPr>
              <a:defRPr>
                <a:solidFill>
                  <a:srgbClr val="2A498C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3CC21523-B09A-49F5-AD15-8ED9B373E5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68083" y="1078302"/>
            <a:ext cx="7712015" cy="4589253"/>
          </a:xfrm>
        </p:spPr>
        <p:txBody>
          <a:bodyPr/>
          <a:lstStyle/>
          <a:p>
            <a:pPr lvl="0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874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7"/>
          <p:cNvSpPr txBox="1">
            <a:spLocks/>
          </p:cNvSpPr>
          <p:nvPr userDrawn="1"/>
        </p:nvSpPr>
        <p:spPr>
          <a:xfrm>
            <a:off x="782637" y="2876550"/>
            <a:ext cx="3971323" cy="1696607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Tx/>
              <a:buNone/>
              <a:defRPr sz="3200" kern="1200">
                <a:solidFill>
                  <a:srgbClr val="2A498C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>
                <a:solidFill>
                  <a:schemeClr val="bg1"/>
                </a:solidFill>
              </a:rPr>
              <a:t>Haga clic para modificar el estilo de texto del patrón</a:t>
            </a:r>
          </a:p>
        </p:txBody>
      </p:sp>
      <p:sp>
        <p:nvSpPr>
          <p:cNvPr id="3" name="Marcador de gráfico 2">
            <a:extLst>
              <a:ext uri="{FF2B5EF4-FFF2-40B4-BE49-F238E27FC236}">
                <a16:creationId xmlns:a16="http://schemas.microsoft.com/office/drawing/2014/main" id="{5573FCE8-7C10-4021-991B-1419F34C17D7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1138238" y="655638"/>
            <a:ext cx="9704387" cy="5124450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2288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009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950A0-6357-432C-9F8C-1F2BD1274474}" type="datetimeFigureOut">
              <a:rPr lang="es-CL" smtClean="0"/>
              <a:t>24-09-2026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DD2BF-08F0-4180-A76E-B38C27C4B909}" type="slidenum">
              <a:rPr lang="es-CL" smtClean="0"/>
              <a:t>‹Nº›</a:t>
            </a:fld>
            <a:endParaRPr lang="es-CL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" y="0"/>
            <a:ext cx="1218976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935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35819-889A-A84B-859D-CC2E83C20A05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62262-920D-0548-982C-6481EDFE2E26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76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98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4" r:id="rId2"/>
    <p:sldLayoutId id="2147483675" r:id="rId3"/>
    <p:sldLayoutId id="2147483678" r:id="rId4"/>
    <p:sldLayoutId id="2147483679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35819-889A-A84B-859D-CC2E83C20A05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62262-920D-0548-982C-6481EDFE2E26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76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80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6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35819-889A-A84B-859D-CC2E83C20A05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62262-920D-0548-982C-6481EDFE2E26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" y="0"/>
            <a:ext cx="12189759" cy="685799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BA7E933-86DB-44C9-B4E9-8235BC49061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" y="0"/>
            <a:ext cx="121905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563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533566E-AD40-4553-B4AF-B6D17452B7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84860" y="4166337"/>
            <a:ext cx="6330432" cy="13489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L" dirty="0"/>
              <a:t>Comité</a:t>
            </a:r>
            <a:endParaRPr lang="en-US" dirty="0"/>
          </a:p>
          <a:p>
            <a:r>
              <a:rPr lang="es-CL" sz="4000" b="1" dirty="0"/>
              <a:t>Calificación de Oportunidad</a:t>
            </a:r>
            <a:endParaRPr lang="es-CL" sz="4000" b="1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ACF05E-496B-B991-BA15-E0FE4CE50E4B}"/>
              </a:ext>
            </a:extLst>
          </p:cNvPr>
          <p:cNvSpPr txBox="1"/>
          <p:nvPr/>
        </p:nvSpPr>
        <p:spPr>
          <a:xfrm>
            <a:off x="784860" y="5750560"/>
            <a:ext cx="4177029" cy="10002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ea typeface="Calibri"/>
                <a:cs typeface="Calibri"/>
              </a:rPr>
              <a:t>Ejecutivo</a:t>
            </a:r>
            <a:r>
              <a:rPr lang="en-US" sz="2400" dirty="0">
                <a:solidFill>
                  <a:schemeClr val="bg1"/>
                </a:solidFill>
                <a:ea typeface="Calibri"/>
                <a:cs typeface="Calibri"/>
              </a:rPr>
              <a:t>: Nombre </a:t>
            </a:r>
            <a:r>
              <a:rPr lang="en-US" sz="2400" dirty="0" err="1">
                <a:solidFill>
                  <a:schemeClr val="bg1"/>
                </a:solidFill>
                <a:ea typeface="Calibri"/>
                <a:cs typeface="Calibri"/>
              </a:rPr>
              <a:t>Apellido</a:t>
            </a:r>
          </a:p>
          <a:p>
            <a:r>
              <a:rPr lang="en-US" sz="2400" dirty="0" err="1">
                <a:solidFill>
                  <a:schemeClr val="bg1"/>
                </a:solidFill>
                <a:ea typeface="Calibri"/>
                <a:cs typeface="Calibri"/>
              </a:rPr>
              <a:t>Fecha</a:t>
            </a:r>
            <a:r>
              <a:rPr lang="en-US" sz="2400" dirty="0">
                <a:solidFill>
                  <a:schemeClr val="bg1"/>
                </a:solidFill>
                <a:ea typeface="Calibri"/>
                <a:cs typeface="Calibri"/>
              </a:rPr>
              <a:t>: XX/XX/XX</a:t>
            </a:r>
            <a:br>
              <a:rPr lang="en-US" sz="2400" dirty="0">
                <a:solidFill>
                  <a:schemeClr val="bg1"/>
                </a:solidFill>
                <a:ea typeface="Calibri"/>
                <a:cs typeface="Calibri"/>
              </a:rPr>
            </a:br>
            <a:r>
              <a:rPr lang="en-US" sz="1100" dirty="0" err="1">
                <a:solidFill>
                  <a:schemeClr val="bg1"/>
                </a:solidFill>
                <a:ea typeface="Calibri"/>
                <a:cs typeface="Calibri"/>
              </a:rPr>
              <a:t>Versión</a:t>
            </a:r>
            <a:r>
              <a:rPr lang="en-US" sz="1100" dirty="0">
                <a:solidFill>
                  <a:schemeClr val="bg1"/>
                </a:solidFill>
                <a:ea typeface="Calibri"/>
                <a:cs typeface="Calibri"/>
              </a:rPr>
              <a:t> 2024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509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3A365-3B27-4237-B7F3-123C32C8C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92" y="328951"/>
            <a:ext cx="8384428" cy="431800"/>
          </a:xfrm>
        </p:spPr>
        <p:txBody>
          <a:bodyPr anchor="t">
            <a:noAutofit/>
          </a:bodyPr>
          <a:lstStyle/>
          <a:p>
            <a:pPr algn="l">
              <a:spcBef>
                <a:spcPct val="20000"/>
              </a:spcBef>
              <a:defRPr/>
            </a:pPr>
            <a:r>
              <a:rPr lang="es-ES" sz="2900" dirty="0">
                <a:solidFill>
                  <a:schemeClr val="bg1"/>
                </a:solidFill>
                <a:ea typeface="+mn-ea"/>
                <a:cs typeface="Arial"/>
              </a:rPr>
              <a:t>Resumen de la Oportunidad – Alcance General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38CF0EE-6376-4B09-AFE2-1B80A78A7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483292"/>
              </p:ext>
            </p:extLst>
          </p:nvPr>
        </p:nvGraphicFramePr>
        <p:xfrm>
          <a:off x="417785" y="1069603"/>
          <a:ext cx="10820521" cy="5551856"/>
        </p:xfrm>
        <a:graphic>
          <a:graphicData uri="http://schemas.openxmlformats.org/drawingml/2006/table">
            <a:tbl>
              <a:tblPr/>
              <a:tblGrid>
                <a:gridCol w="3531869">
                  <a:extLst>
                    <a:ext uri="{9D8B030D-6E8A-4147-A177-3AD203B41FA5}">
                      <a16:colId xmlns:a16="http://schemas.microsoft.com/office/drawing/2014/main" val="2181790107"/>
                    </a:ext>
                  </a:extLst>
                </a:gridCol>
                <a:gridCol w="7288652">
                  <a:extLst>
                    <a:ext uri="{9D8B030D-6E8A-4147-A177-3AD203B41FA5}">
                      <a16:colId xmlns:a16="http://schemas.microsoft.com/office/drawing/2014/main" val="782072508"/>
                    </a:ext>
                  </a:extLst>
                </a:gridCol>
              </a:tblGrid>
              <a:tr h="7188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Alcance General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Ejemplo: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Licitación Red completa de conectividad (Internet + Datos) + SDWAN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1539633"/>
                  </a:ext>
                </a:extLst>
              </a:tr>
              <a:tr h="101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Alcance Específico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 </a:t>
                      </a: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 sucursales a cubrir con enlaces de datos e internet + el servicio de SDWAN Fortinet / Cisco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173222"/>
                  </a:ext>
                </a:extLst>
              </a:tr>
              <a:tr h="8911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¿Qué justifica este proyecto?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 </a:t>
                      </a: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Core negocio de Gtd + Aumento en la participación de mercado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2844866"/>
                  </a:ext>
                </a:extLst>
              </a:tr>
              <a:tr h="9198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Incumbente Actual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 </a:t>
                      </a: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Entel, Movistar, Claro, </a:t>
                      </a:r>
                      <a:r>
                        <a:rPr lang="es-CL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Orion</a:t>
                      </a: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es-CL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Wom</a:t>
                      </a: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Mundo Pacífico, Sonda, </a:t>
                      </a:r>
                      <a:r>
                        <a:rPr lang="es-CL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Tivit</a:t>
                      </a: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060542"/>
                  </a:ext>
                </a:extLst>
              </a:tr>
              <a:tr h="10049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¿Cuánto paga actualmente por este servicio?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 </a:t>
                      </a: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450 UF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0758097"/>
                  </a:ext>
                </a:extLst>
              </a:tr>
              <a:tr h="10049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¿Se encuentra registrada la oportunidad con alguna marca?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 </a:t>
                      </a: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Lenovo, HPE, Dell, etc.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348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9985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3A365-3B27-4237-B7F3-123C32C8C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92" y="328951"/>
            <a:ext cx="8384428" cy="431800"/>
          </a:xfrm>
        </p:spPr>
        <p:txBody>
          <a:bodyPr anchor="t">
            <a:noAutofit/>
          </a:bodyPr>
          <a:lstStyle/>
          <a:p>
            <a:pPr algn="l">
              <a:spcBef>
                <a:spcPct val="20000"/>
              </a:spcBef>
              <a:defRPr/>
            </a:pPr>
            <a:r>
              <a:rPr lang="es-ES" sz="2900" dirty="0">
                <a:solidFill>
                  <a:schemeClr val="bg1"/>
                </a:solidFill>
                <a:ea typeface="+mn-ea"/>
                <a:cs typeface="Arial"/>
              </a:rPr>
              <a:t>Matriz de Calificación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7EC82AD-C51B-EA32-444F-05DA69685AAD}"/>
              </a:ext>
            </a:extLst>
          </p:cNvPr>
          <p:cNvSpPr txBox="1"/>
          <p:nvPr/>
        </p:nvSpPr>
        <p:spPr>
          <a:xfrm>
            <a:off x="1727200" y="995807"/>
            <a:ext cx="838442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rgbClr val="2A498C"/>
                </a:solidFill>
              </a:rPr>
              <a:t>INSERTAR MATRIZ DE CALIFICACIÓN o MOSTRAR EN PDF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43D9DF18-AEB5-23C1-4C17-73A0D90CC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983927"/>
              </p:ext>
            </p:extLst>
          </p:nvPr>
        </p:nvGraphicFramePr>
        <p:xfrm>
          <a:off x="578343" y="1365140"/>
          <a:ext cx="10024345" cy="1828800"/>
        </p:xfrm>
        <a:graphic>
          <a:graphicData uri="http://schemas.openxmlformats.org/drawingml/2006/table">
            <a:tbl>
              <a:tblPr/>
              <a:tblGrid>
                <a:gridCol w="1513108">
                  <a:extLst>
                    <a:ext uri="{9D8B030D-6E8A-4147-A177-3AD203B41FA5}">
                      <a16:colId xmlns:a16="http://schemas.microsoft.com/office/drawing/2014/main" val="1150926362"/>
                    </a:ext>
                  </a:extLst>
                </a:gridCol>
                <a:gridCol w="2471411">
                  <a:extLst>
                    <a:ext uri="{9D8B030D-6E8A-4147-A177-3AD203B41FA5}">
                      <a16:colId xmlns:a16="http://schemas.microsoft.com/office/drawing/2014/main" val="3177777093"/>
                    </a:ext>
                  </a:extLst>
                </a:gridCol>
                <a:gridCol w="1387017">
                  <a:extLst>
                    <a:ext uri="{9D8B030D-6E8A-4147-A177-3AD203B41FA5}">
                      <a16:colId xmlns:a16="http://schemas.microsoft.com/office/drawing/2014/main" val="3864592073"/>
                    </a:ext>
                  </a:extLst>
                </a:gridCol>
                <a:gridCol w="1008739">
                  <a:extLst>
                    <a:ext uri="{9D8B030D-6E8A-4147-A177-3AD203B41FA5}">
                      <a16:colId xmlns:a16="http://schemas.microsoft.com/office/drawing/2014/main" val="2709005479"/>
                    </a:ext>
                  </a:extLst>
                </a:gridCol>
                <a:gridCol w="3644070">
                  <a:extLst>
                    <a:ext uri="{9D8B030D-6E8A-4147-A177-3AD203B41FA5}">
                      <a16:colId xmlns:a16="http://schemas.microsoft.com/office/drawing/2014/main" val="3254196469"/>
                    </a:ext>
                  </a:extLst>
                </a:gridCol>
              </a:tblGrid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Rut (Sin puntos)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069976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Cliente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Probabilidad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CL" sz="1000" b="0" i="0" u="none" strike="noStrike" dirty="0">
                        <a:solidFill>
                          <a:srgbClr val="FFFFFF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052426"/>
                  </a:ext>
                </a:extLst>
              </a:tr>
              <a:tr h="295588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Nombre Oportunidad (Código NCC)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 gridSpan="3">
                  <a:txBody>
                    <a:bodyPr/>
                    <a:lstStyle/>
                    <a:p>
                      <a:pPr algn="l" fontAlgn="t"/>
                      <a:r>
                        <a:rPr lang="es-CL" sz="1000" b="0" i="0" u="sng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Descripción general:</a:t>
                      </a:r>
                      <a:br>
                        <a:rPr lang="es-CL" sz="1000" b="0" i="0" u="sng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endParaRPr lang="es-CL" sz="1000" b="0" i="0" u="sng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657091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Ejecutivo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515135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Preventa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761147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Ingeniero Gestión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497153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Service Manager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17549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Fecha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62244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Tipo Servicio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1473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PPTO UF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748699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UF defendidas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3083592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62A7041-4E45-D453-8735-665D207EE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151746"/>
              </p:ext>
            </p:extLst>
          </p:nvPr>
        </p:nvGraphicFramePr>
        <p:xfrm>
          <a:off x="433014" y="3475692"/>
          <a:ext cx="10539786" cy="31833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56160">
                  <a:extLst>
                    <a:ext uri="{9D8B030D-6E8A-4147-A177-3AD203B41FA5}">
                      <a16:colId xmlns:a16="http://schemas.microsoft.com/office/drawing/2014/main" val="3262374375"/>
                    </a:ext>
                  </a:extLst>
                </a:gridCol>
                <a:gridCol w="1042898">
                  <a:extLst>
                    <a:ext uri="{9D8B030D-6E8A-4147-A177-3AD203B41FA5}">
                      <a16:colId xmlns:a16="http://schemas.microsoft.com/office/drawing/2014/main" val="3663443045"/>
                    </a:ext>
                  </a:extLst>
                </a:gridCol>
                <a:gridCol w="4940728">
                  <a:extLst>
                    <a:ext uri="{9D8B030D-6E8A-4147-A177-3AD203B41FA5}">
                      <a16:colId xmlns:a16="http://schemas.microsoft.com/office/drawing/2014/main" val="3465960491"/>
                    </a:ext>
                  </a:extLst>
                </a:gridCol>
              </a:tblGrid>
              <a:tr h="2910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Instrucciones: Responder "SI" o "NO" o "NO SABE" a cada una de las declaraciones, y revisar las conclusiones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Respuesta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Comentario/Mitigación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3128"/>
                  </a:ext>
                </a:extLst>
              </a:tr>
              <a:tr h="2910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¿Existe certeza de que el cliente va a realizar el proyecto?	</a:t>
                      </a:r>
                    </a:p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34742"/>
                  </a:ext>
                </a:extLst>
              </a:tr>
              <a:tr h="274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¿Tienen un presupuesto ya asignado?​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432870"/>
                  </a:ext>
                </a:extLst>
              </a:tr>
              <a:tr h="274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¿Conocemos el presupuesto?​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429079"/>
                  </a:ext>
                </a:extLst>
              </a:tr>
              <a:tr h="274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¿Es cliente estratégico?	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138958"/>
                  </a:ext>
                </a:extLst>
              </a:tr>
              <a:tr h="3149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¿Es licitación?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074524"/>
                  </a:ext>
                </a:extLst>
              </a:tr>
              <a:tr h="274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¿El negocio es atractivo para nosotros? ​/valor contrato/ periodo de contratación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303249"/>
                  </a:ext>
                </a:extLst>
              </a:tr>
              <a:tr h="274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¿Actualmente tiene algún servicio activo con </a:t>
                      </a:r>
                      <a:r>
                        <a:rPr lang="es-MX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Gtd</a:t>
                      </a: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908149"/>
                  </a:ext>
                </a:extLst>
              </a:tr>
              <a:tr h="274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¿Es </a:t>
                      </a:r>
                      <a:r>
                        <a:rPr lang="es-CL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Gtd</a:t>
                      </a: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incumbente?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956986"/>
                  </a:ext>
                </a:extLst>
              </a:tr>
              <a:tr h="274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¿Es parte del Catálogo de Servicios de </a:t>
                      </a:r>
                      <a:r>
                        <a:rPr lang="es-MX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Gtd</a:t>
                      </a: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909811"/>
                  </a:ext>
                </a:extLst>
              </a:tr>
              <a:tr h="274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¿Tenemos una buena solución a su requerimiento? ​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168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480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8C632C-1B0D-6FF6-323F-3F36235FA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92" y="328951"/>
            <a:ext cx="8384428" cy="431800"/>
          </a:xfrm>
        </p:spPr>
        <p:txBody>
          <a:bodyPr anchor="t">
            <a:noAutofit/>
          </a:bodyPr>
          <a:lstStyle/>
          <a:p>
            <a:pPr algn="l">
              <a:spcBef>
                <a:spcPct val="20000"/>
              </a:spcBef>
              <a:defRPr/>
            </a:pPr>
            <a:r>
              <a:rPr lang="es-ES" sz="2900" dirty="0">
                <a:solidFill>
                  <a:schemeClr val="bg1"/>
                </a:solidFill>
                <a:ea typeface="+mn-ea"/>
                <a:cs typeface="Arial"/>
              </a:rPr>
              <a:t>Matriz de Calificación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EAA4931-C15E-EBB5-51CF-88250A570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813432"/>
              </p:ext>
            </p:extLst>
          </p:nvPr>
        </p:nvGraphicFramePr>
        <p:xfrm>
          <a:off x="1317171" y="1087729"/>
          <a:ext cx="9557658" cy="57161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31604">
                  <a:extLst>
                    <a:ext uri="{9D8B030D-6E8A-4147-A177-3AD203B41FA5}">
                      <a16:colId xmlns:a16="http://schemas.microsoft.com/office/drawing/2014/main" val="2181194209"/>
                    </a:ext>
                  </a:extLst>
                </a:gridCol>
                <a:gridCol w="945718">
                  <a:extLst>
                    <a:ext uri="{9D8B030D-6E8A-4147-A177-3AD203B41FA5}">
                      <a16:colId xmlns:a16="http://schemas.microsoft.com/office/drawing/2014/main" val="1625443545"/>
                    </a:ext>
                  </a:extLst>
                </a:gridCol>
                <a:gridCol w="4480336">
                  <a:extLst>
                    <a:ext uri="{9D8B030D-6E8A-4147-A177-3AD203B41FA5}">
                      <a16:colId xmlns:a16="http://schemas.microsoft.com/office/drawing/2014/main" val="1692551956"/>
                    </a:ext>
                  </a:extLst>
                </a:gridCol>
              </a:tblGrid>
              <a:tr h="2991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Instrucciones</a:t>
                      </a:r>
                      <a:r>
                        <a:rPr lang="es-CL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Responder "SI" o "NO" o "NO SABE" a cada una de las declaraciones, y revisar las conclusiones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Respuesta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Comentario/Mitigación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18447"/>
                  </a:ext>
                </a:extLst>
              </a:tr>
              <a:tr h="2991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¿Tenemos valor agregado? 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084620"/>
                  </a:ext>
                </a:extLst>
              </a:tr>
              <a:tr h="2645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¿Poseemos un valor diferenciador?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765122"/>
                  </a:ext>
                </a:extLst>
              </a:tr>
              <a:tr h="3081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¿Estamos mejor posicionados que nuestra competencia?​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352283"/>
                  </a:ext>
                </a:extLst>
              </a:tr>
              <a:tr h="3081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¿Contamos con el tiempo para generar la propuesta?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654481"/>
                  </a:ext>
                </a:extLst>
              </a:tr>
              <a:tr h="230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¿Conocemos los criterios de evaluación?​	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08456"/>
                  </a:ext>
                </a:extLst>
              </a:tr>
              <a:tr h="230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¿Cumplimos con los criterios de evaluación? 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383492"/>
                  </a:ext>
                </a:extLst>
              </a:tr>
              <a:tr h="2218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¿Tenemos acceso a los niveles de decisión?​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23498"/>
                  </a:ext>
                </a:extLst>
              </a:tr>
              <a:tr h="3081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¿Contamos con apoyo interno de buen nivel en el cliente?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441444"/>
                  </a:ext>
                </a:extLst>
              </a:tr>
              <a:tr h="408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Entendemos las razones del cliente para ir al mercado, sus necesidades de negocio, puntos de dolor, </a:t>
                      </a:r>
                      <a:r>
                        <a:rPr lang="es-MX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etc</a:t>
                      </a: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51713"/>
                  </a:ext>
                </a:extLst>
              </a:tr>
              <a:tr h="3081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¿Será proveedor único del servicio?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611071"/>
                  </a:ext>
                </a:extLst>
              </a:tr>
              <a:tr h="3081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¿Se encuentra registrada la oportunidad con la Marca (Aliado/Proveedor)?	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044163"/>
                  </a:ext>
                </a:extLst>
              </a:tr>
              <a:tr h="3081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</a:t>
                      </a:r>
                      <a:r>
                        <a:rPr lang="es-MX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Gtd</a:t>
                      </a: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posee todas las certificaciones necesarias para entregar el servicio?	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741044"/>
                  </a:ext>
                </a:extLst>
              </a:tr>
              <a:tr h="3292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¿Tenemos (podemos adquirir) los recursos necesarios para prestar el servicio?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63890"/>
                  </a:ext>
                </a:extLst>
              </a:tr>
              <a:tr h="3081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¿Tenemos un precio competitivo?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392299"/>
                  </a:ext>
                </a:extLst>
              </a:tr>
              <a:tr h="3292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¿Conocemos los costos directos e indirectos de ofertar. (costos de inversión de mantención, multas involucradas, </a:t>
                      </a:r>
                      <a:r>
                        <a:rPr lang="es-MX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etc</a:t>
                      </a: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)?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009953"/>
                  </a:ext>
                </a:extLst>
              </a:tr>
              <a:tr h="4486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¿Él o los servicios solicitados son económicamente rentables? (TIR "")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141039"/>
                  </a:ext>
                </a:extLst>
              </a:tr>
              <a:tr h="4486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¿Él o los servicios solicitados son estratégicamente importantes a nivel de soluciones?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47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5301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3A365-3B27-4237-B7F3-123C32C8C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92" y="328951"/>
            <a:ext cx="8384428" cy="431800"/>
          </a:xfrm>
        </p:spPr>
        <p:txBody>
          <a:bodyPr anchor="t">
            <a:noAutofit/>
          </a:bodyPr>
          <a:lstStyle/>
          <a:p>
            <a:pPr algn="l">
              <a:spcBef>
                <a:spcPct val="20000"/>
              </a:spcBef>
              <a:defRPr/>
            </a:pPr>
            <a:r>
              <a:rPr lang="es-ES" sz="2900" dirty="0">
                <a:solidFill>
                  <a:schemeClr val="bg1"/>
                </a:solidFill>
                <a:ea typeface="+mn-ea"/>
                <a:cs typeface="Arial"/>
              </a:rPr>
              <a:t>Matriz de Riesgo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07EA1A66-8F31-3F4A-B882-EA8E694E8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105468"/>
              </p:ext>
            </p:extLst>
          </p:nvPr>
        </p:nvGraphicFramePr>
        <p:xfrm>
          <a:off x="320622" y="1046704"/>
          <a:ext cx="10024345" cy="1828800"/>
        </p:xfrm>
        <a:graphic>
          <a:graphicData uri="http://schemas.openxmlformats.org/drawingml/2006/table">
            <a:tbl>
              <a:tblPr/>
              <a:tblGrid>
                <a:gridCol w="1513108">
                  <a:extLst>
                    <a:ext uri="{9D8B030D-6E8A-4147-A177-3AD203B41FA5}">
                      <a16:colId xmlns:a16="http://schemas.microsoft.com/office/drawing/2014/main" val="1150926362"/>
                    </a:ext>
                  </a:extLst>
                </a:gridCol>
                <a:gridCol w="2471411">
                  <a:extLst>
                    <a:ext uri="{9D8B030D-6E8A-4147-A177-3AD203B41FA5}">
                      <a16:colId xmlns:a16="http://schemas.microsoft.com/office/drawing/2014/main" val="3177777093"/>
                    </a:ext>
                  </a:extLst>
                </a:gridCol>
                <a:gridCol w="1387017">
                  <a:extLst>
                    <a:ext uri="{9D8B030D-6E8A-4147-A177-3AD203B41FA5}">
                      <a16:colId xmlns:a16="http://schemas.microsoft.com/office/drawing/2014/main" val="3864592073"/>
                    </a:ext>
                  </a:extLst>
                </a:gridCol>
                <a:gridCol w="1008739">
                  <a:extLst>
                    <a:ext uri="{9D8B030D-6E8A-4147-A177-3AD203B41FA5}">
                      <a16:colId xmlns:a16="http://schemas.microsoft.com/office/drawing/2014/main" val="2709005479"/>
                    </a:ext>
                  </a:extLst>
                </a:gridCol>
                <a:gridCol w="3644070">
                  <a:extLst>
                    <a:ext uri="{9D8B030D-6E8A-4147-A177-3AD203B41FA5}">
                      <a16:colId xmlns:a16="http://schemas.microsoft.com/office/drawing/2014/main" val="3254196469"/>
                    </a:ext>
                  </a:extLst>
                </a:gridCol>
              </a:tblGrid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Rut (Sin puntos)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069976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Cliente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Probabilidad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CL" sz="1000" b="0" i="0" u="none" strike="noStrike" dirty="0">
                        <a:solidFill>
                          <a:srgbClr val="FFFFFF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052426"/>
                  </a:ext>
                </a:extLst>
              </a:tr>
              <a:tr h="295588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Nombre Oportunidad (Código NCC)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 gridSpan="3">
                  <a:txBody>
                    <a:bodyPr/>
                    <a:lstStyle/>
                    <a:p>
                      <a:pPr algn="l" fontAlgn="t"/>
                      <a:r>
                        <a:rPr lang="es-CL" sz="1000" b="0" i="0" u="sng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Descripción general:</a:t>
                      </a:r>
                      <a:br>
                        <a:rPr lang="es-CL" sz="1000" b="0" i="0" u="sng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endParaRPr lang="es-CL" sz="1000" b="0" i="0" u="sng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657091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Ejecutivo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515135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Preventa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761147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Ingeniero Gestión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497153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Service Manager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17549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Fecha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62244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Tipo Servicio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1473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PPTO UF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748699"/>
                  </a:ext>
                </a:extLst>
              </a:tr>
              <a:tr h="147794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UF defendidas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3083592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24658CF4-F2A7-EBB3-DFF0-B53EF1AAD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835851"/>
              </p:ext>
            </p:extLst>
          </p:nvPr>
        </p:nvGraphicFramePr>
        <p:xfrm>
          <a:off x="320622" y="2945330"/>
          <a:ext cx="10539786" cy="35060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56160">
                  <a:extLst>
                    <a:ext uri="{9D8B030D-6E8A-4147-A177-3AD203B41FA5}">
                      <a16:colId xmlns:a16="http://schemas.microsoft.com/office/drawing/2014/main" val="3262374375"/>
                    </a:ext>
                  </a:extLst>
                </a:gridCol>
                <a:gridCol w="1042898">
                  <a:extLst>
                    <a:ext uri="{9D8B030D-6E8A-4147-A177-3AD203B41FA5}">
                      <a16:colId xmlns:a16="http://schemas.microsoft.com/office/drawing/2014/main" val="3663443045"/>
                    </a:ext>
                  </a:extLst>
                </a:gridCol>
                <a:gridCol w="4940728">
                  <a:extLst>
                    <a:ext uri="{9D8B030D-6E8A-4147-A177-3AD203B41FA5}">
                      <a16:colId xmlns:a16="http://schemas.microsoft.com/office/drawing/2014/main" val="3465960491"/>
                    </a:ext>
                  </a:extLst>
                </a:gridCol>
              </a:tblGrid>
              <a:tr h="3286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Instrucciones: Responder "SI" o "NO" o "NO SABE" a cada una de las declaraciones, y revisar las conclusiones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Respuesta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Comentario/Mitigación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3128"/>
                  </a:ext>
                </a:extLst>
              </a:tr>
              <a:tr h="285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¿El proyecto requiere licenciamiento Oracle para gobierno?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34742"/>
                  </a:ext>
                </a:extLst>
              </a:tr>
              <a:tr h="2692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¿Conocemos las multas?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432870"/>
                  </a:ext>
                </a:extLst>
              </a:tr>
              <a:tr h="2692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¿Las multas superan el 10% del monto del contrato?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429079"/>
                  </a:ext>
                </a:extLst>
              </a:tr>
              <a:tr h="492951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¿Existe disponibilidad de Recursos y Personas para implementar y mantener la propuesta?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138958"/>
                  </a:ext>
                </a:extLst>
              </a:tr>
              <a:tr h="328634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¿Tenemos experiencia trabajando en este tipo de soluciones?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074524"/>
                  </a:ext>
                </a:extLst>
              </a:tr>
              <a:tr h="328634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¿Podemos cumplir los plazos de implementación?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303249"/>
                  </a:ext>
                </a:extLst>
              </a:tr>
              <a:tr h="492951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¿Existe disponibilidad de Recursos y Personas para implementar y  Mantener el servicio?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908149"/>
                  </a:ext>
                </a:extLst>
              </a:tr>
              <a:tr h="328634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¿Considera financiamiento de equipos para cliente?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956986"/>
                  </a:ext>
                </a:extLst>
              </a:tr>
              <a:tr h="328634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Permite pago por adelantado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909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303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2164246-DA0F-3211-C1DB-5C213652E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92" y="328951"/>
            <a:ext cx="8384428" cy="431800"/>
          </a:xfrm>
        </p:spPr>
        <p:txBody>
          <a:bodyPr anchor="t">
            <a:noAutofit/>
          </a:bodyPr>
          <a:lstStyle/>
          <a:p>
            <a:pPr algn="l">
              <a:spcBef>
                <a:spcPct val="20000"/>
              </a:spcBef>
              <a:defRPr/>
            </a:pPr>
            <a:r>
              <a:rPr lang="es-ES" sz="2900" dirty="0">
                <a:solidFill>
                  <a:schemeClr val="bg1"/>
                </a:solidFill>
                <a:ea typeface="+mn-ea"/>
                <a:cs typeface="Arial"/>
              </a:rPr>
              <a:t>Matriz de Riesgo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D84A15B-D503-DD27-1D2C-5AA2DC98E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161753"/>
              </p:ext>
            </p:extLst>
          </p:nvPr>
        </p:nvGraphicFramePr>
        <p:xfrm>
          <a:off x="458414" y="2128883"/>
          <a:ext cx="10539786" cy="32199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56160">
                  <a:extLst>
                    <a:ext uri="{9D8B030D-6E8A-4147-A177-3AD203B41FA5}">
                      <a16:colId xmlns:a16="http://schemas.microsoft.com/office/drawing/2014/main" val="3262374375"/>
                    </a:ext>
                  </a:extLst>
                </a:gridCol>
                <a:gridCol w="1042898">
                  <a:extLst>
                    <a:ext uri="{9D8B030D-6E8A-4147-A177-3AD203B41FA5}">
                      <a16:colId xmlns:a16="http://schemas.microsoft.com/office/drawing/2014/main" val="3663443045"/>
                    </a:ext>
                  </a:extLst>
                </a:gridCol>
                <a:gridCol w="4940728">
                  <a:extLst>
                    <a:ext uri="{9D8B030D-6E8A-4147-A177-3AD203B41FA5}">
                      <a16:colId xmlns:a16="http://schemas.microsoft.com/office/drawing/2014/main" val="34659604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Instrucciones: Responder "SI" o "NO" o "NO SABE" a cada una de las declaraciones, y revisar las conclusiones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Respuesta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Comentario/Mitigación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3128"/>
                  </a:ext>
                </a:extLst>
              </a:tr>
              <a:tr h="2910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Financiamiento del </a:t>
                      </a:r>
                      <a:r>
                        <a:rPr lang="es-MX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capex</a:t>
                      </a: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propio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34742"/>
                  </a:ext>
                </a:extLst>
              </a:tr>
              <a:tr h="274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¿Permite pago por hitos?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432870"/>
                  </a:ext>
                </a:extLst>
              </a:tr>
              <a:tr h="274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429079"/>
                  </a:ext>
                </a:extLst>
              </a:tr>
              <a:tr h="274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¿Las multas superan el 10% del monto del contrato?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138958"/>
                  </a:ext>
                </a:extLst>
              </a:tr>
              <a:tr h="3149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¿Existe disponibilidad de Recursos y Personas para implementar y mantener la propuesta?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074524"/>
                  </a:ext>
                </a:extLst>
              </a:tr>
              <a:tr h="274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¿Tenemos experiencia trabajando en este tipo de soluciones?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303249"/>
                  </a:ext>
                </a:extLst>
              </a:tr>
              <a:tr h="274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¿Podemos cumplir los plazos de implementación?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908149"/>
                  </a:ext>
                </a:extLst>
              </a:tr>
              <a:tr h="3345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¿Existe disponibilidad de Recursos y Personas para implementar y  Mantener el servicio?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956986"/>
                  </a:ext>
                </a:extLst>
              </a:tr>
              <a:tr h="274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¿Considera financiamiento de equipos para cliente?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909811"/>
                  </a:ext>
                </a:extLst>
              </a:tr>
              <a:tr h="274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Permite pago por adelantado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2" algn="l" fontAlgn="ctr">
                        <a:buNone/>
                      </a:pPr>
                      <a:endParaRPr lang="es-CL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168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39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3A365-3B27-4237-B7F3-123C32C8C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92" y="328950"/>
            <a:ext cx="10571408" cy="574563"/>
          </a:xfrm>
        </p:spPr>
        <p:txBody>
          <a:bodyPr anchor="t">
            <a:noAutofit/>
          </a:bodyPr>
          <a:lstStyle/>
          <a:p>
            <a:pPr algn="l">
              <a:spcBef>
                <a:spcPct val="20000"/>
              </a:spcBef>
              <a:defRPr/>
            </a:pPr>
            <a:r>
              <a:rPr lang="es-ES" sz="2900" dirty="0">
                <a:solidFill>
                  <a:schemeClr val="bg1"/>
                </a:solidFill>
                <a:ea typeface="+mn-ea"/>
                <a:cs typeface="Arial"/>
              </a:rPr>
              <a:t>¿Con qué solución y/o oferta cubrimos el requerimiento del cliente? 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38CF0EE-6376-4B09-AFE2-1B80A78A7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319344"/>
              </p:ext>
            </p:extLst>
          </p:nvPr>
        </p:nvGraphicFramePr>
        <p:xfrm>
          <a:off x="417785" y="1766289"/>
          <a:ext cx="10820521" cy="4546860"/>
        </p:xfrm>
        <a:graphic>
          <a:graphicData uri="http://schemas.openxmlformats.org/drawingml/2006/table">
            <a:tbl>
              <a:tblPr/>
              <a:tblGrid>
                <a:gridCol w="3531869">
                  <a:extLst>
                    <a:ext uri="{9D8B030D-6E8A-4147-A177-3AD203B41FA5}">
                      <a16:colId xmlns:a16="http://schemas.microsoft.com/office/drawing/2014/main" val="2181790107"/>
                    </a:ext>
                  </a:extLst>
                </a:gridCol>
                <a:gridCol w="7288652">
                  <a:extLst>
                    <a:ext uri="{9D8B030D-6E8A-4147-A177-3AD203B41FA5}">
                      <a16:colId xmlns:a16="http://schemas.microsoft.com/office/drawing/2014/main" val="782072508"/>
                    </a:ext>
                  </a:extLst>
                </a:gridCol>
              </a:tblGrid>
              <a:tr h="7188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Solución en catálogo (Sólo si existe)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Ejemplo: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Enlaces dedicados + Datos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1539633"/>
                  </a:ext>
                </a:extLst>
              </a:tr>
              <a:tr h="101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¿Qué no cubre el producto o capacidad operativizada?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</a:t>
                      </a: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Algunos puntos de factibilidad y SLA / Nada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173222"/>
                  </a:ext>
                </a:extLst>
              </a:tr>
              <a:tr h="8911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¿Por qué nuestro servicio es mejor que el de la competencia?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</a:t>
                      </a: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Mejores SLA´S - Desconocido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2844866"/>
                  </a:ext>
                </a:extLst>
              </a:tr>
              <a:tr h="9198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¿Cómo podemos diferenciarnos de otros oferentes?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 </a:t>
                      </a: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Precio – Sistema de atención –Rápida implementación - Factibilidades</a:t>
                      </a:r>
                      <a:endParaRPr lang="es-CL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060542"/>
                  </a:ext>
                </a:extLst>
              </a:tr>
              <a:tr h="10049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¿Cuál es la estrategia? (Si existe)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Definir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0758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2873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3A365-3B27-4237-B7F3-123C32C8C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16" y="328951"/>
            <a:ext cx="8384428" cy="431800"/>
          </a:xfrm>
        </p:spPr>
        <p:txBody>
          <a:bodyPr anchor="t">
            <a:noAutofit/>
          </a:bodyPr>
          <a:lstStyle/>
          <a:p>
            <a:pPr algn="l">
              <a:spcBef>
                <a:spcPct val="20000"/>
              </a:spcBef>
              <a:defRPr/>
            </a:pPr>
            <a:r>
              <a:rPr lang="es-ES" sz="2900" dirty="0">
                <a:solidFill>
                  <a:schemeClr val="bg1"/>
                </a:solidFill>
                <a:ea typeface="+mn-ea"/>
                <a:cs typeface="Arial"/>
              </a:rPr>
              <a:t>Proceso Compra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38CF0EE-6376-4B09-AFE2-1B80A78A7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699727"/>
              </p:ext>
            </p:extLst>
          </p:nvPr>
        </p:nvGraphicFramePr>
        <p:xfrm>
          <a:off x="417785" y="1766289"/>
          <a:ext cx="10820523" cy="4546860"/>
        </p:xfrm>
        <a:graphic>
          <a:graphicData uri="http://schemas.openxmlformats.org/drawingml/2006/table">
            <a:tbl>
              <a:tblPr/>
              <a:tblGrid>
                <a:gridCol w="4364527">
                  <a:extLst>
                    <a:ext uri="{9D8B030D-6E8A-4147-A177-3AD203B41FA5}">
                      <a16:colId xmlns:a16="http://schemas.microsoft.com/office/drawing/2014/main" val="2181790107"/>
                    </a:ext>
                  </a:extLst>
                </a:gridCol>
                <a:gridCol w="6455996">
                  <a:extLst>
                    <a:ext uri="{9D8B030D-6E8A-4147-A177-3AD203B41FA5}">
                      <a16:colId xmlns:a16="http://schemas.microsoft.com/office/drawing/2014/main" val="782072508"/>
                    </a:ext>
                  </a:extLst>
                </a:gridCol>
              </a:tblGrid>
              <a:tr h="718814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Proceso Licitación o Compra Directa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Ejemplo: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Licitación Pública/Privada, Compra directa, RFI, RFP, Previo RFI.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1539633"/>
                  </a:ext>
                </a:extLst>
              </a:tr>
              <a:tr h="101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¿Hay asesor Interno/Externo en la evaluación/¿Quién es?/Tenemos relación con él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SI/NO(¿Quién?)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173222"/>
                  </a:ext>
                </a:extLst>
              </a:tr>
              <a:tr h="8911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Criterios de evaluación </a:t>
                      </a:r>
                      <a:endParaRPr lang="es-CL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 </a:t>
                      </a: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Propuesta Comercial – Implementación – SLA - Certificaciones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2844866"/>
                  </a:ext>
                </a:extLst>
              </a:tr>
              <a:tr h="9198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¿Cuál es el presupuesto?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 UF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060542"/>
                  </a:ext>
                </a:extLst>
              </a:tr>
              <a:tr h="10049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¿GTD asesoró o recomendó en el alcance de la solicitud de compra?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Formalmente vía RFI o a través de actividades con el cliente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0758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057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3A365-3B27-4237-B7F3-123C32C8C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41" y="357933"/>
            <a:ext cx="11285929" cy="523810"/>
          </a:xfrm>
        </p:spPr>
        <p:txBody>
          <a:bodyPr anchor="t">
            <a:noAutofit/>
          </a:bodyPr>
          <a:lstStyle/>
          <a:p>
            <a:pPr algn="l">
              <a:spcBef>
                <a:spcPct val="20000"/>
              </a:spcBef>
              <a:defRPr/>
            </a:pPr>
            <a:r>
              <a:rPr lang="es-ES" sz="2900" dirty="0">
                <a:solidFill>
                  <a:schemeClr val="bg1"/>
                </a:solidFill>
                <a:ea typeface="+mn-ea"/>
                <a:cs typeface="Arial"/>
              </a:rPr>
              <a:t>Plazos de cotización y adjudicación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38CF0EE-6376-4B09-AFE2-1B80A78A7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570893"/>
              </p:ext>
            </p:extLst>
          </p:nvPr>
        </p:nvGraphicFramePr>
        <p:xfrm>
          <a:off x="693683" y="1648047"/>
          <a:ext cx="10670750" cy="4636120"/>
        </p:xfrm>
        <a:graphic>
          <a:graphicData uri="http://schemas.openxmlformats.org/drawingml/2006/table">
            <a:tbl>
              <a:tblPr/>
              <a:tblGrid>
                <a:gridCol w="3665483">
                  <a:extLst>
                    <a:ext uri="{9D8B030D-6E8A-4147-A177-3AD203B41FA5}">
                      <a16:colId xmlns:a16="http://schemas.microsoft.com/office/drawing/2014/main" val="2181790107"/>
                    </a:ext>
                  </a:extLst>
                </a:gridCol>
                <a:gridCol w="7005267">
                  <a:extLst>
                    <a:ext uri="{9D8B030D-6E8A-4147-A177-3AD203B41FA5}">
                      <a16:colId xmlns:a16="http://schemas.microsoft.com/office/drawing/2014/main" val="782072508"/>
                    </a:ext>
                  </a:extLst>
                </a:gridCol>
              </a:tblGrid>
              <a:tr h="808074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Fecha de Inicio proceso compra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XX/XX/XX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1539633"/>
                  </a:ext>
                </a:extLst>
              </a:tr>
              <a:tr h="101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Fecha Consultas/respuesta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XX/XX/XX </a:t>
                      </a:r>
                      <a:endParaRPr kumimoji="0" lang="es-E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173222"/>
                  </a:ext>
                </a:extLst>
              </a:tr>
              <a:tr h="891104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Fecha Entrega de Propuesta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XX/XX/XX </a:t>
                      </a:r>
                      <a:endParaRPr kumimoji="0" lang="es-E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2844866"/>
                  </a:ext>
                </a:extLst>
              </a:tr>
              <a:tr h="9198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Fecha Entrega de  Presentación Propuesta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XX/XX/XX </a:t>
                      </a:r>
                      <a:endParaRPr kumimoji="0" lang="es-E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060542"/>
                  </a:ext>
                </a:extLst>
              </a:tr>
              <a:tr h="1004996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Fecha de Adjudicación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XX/XX/XX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0758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220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3A365-3B27-4237-B7F3-123C32C8C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41" y="357933"/>
            <a:ext cx="11285929" cy="523810"/>
          </a:xfrm>
        </p:spPr>
        <p:txBody>
          <a:bodyPr anchor="t">
            <a:noAutofit/>
          </a:bodyPr>
          <a:lstStyle/>
          <a:p>
            <a:pPr algn="l">
              <a:spcBef>
                <a:spcPct val="20000"/>
              </a:spcBef>
              <a:defRPr/>
            </a:pPr>
            <a:r>
              <a:rPr lang="es-ES" sz="2900" dirty="0">
                <a:solidFill>
                  <a:schemeClr val="bg1"/>
                </a:solidFill>
                <a:ea typeface="+mn-ea"/>
                <a:cs typeface="Arial"/>
              </a:rPr>
              <a:t>Riesgos Declarados por el Área comercial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38CF0EE-6376-4B09-AFE2-1B80A78A7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432937"/>
              </p:ext>
            </p:extLst>
          </p:nvPr>
        </p:nvGraphicFramePr>
        <p:xfrm>
          <a:off x="693683" y="1648047"/>
          <a:ext cx="10670750" cy="4636120"/>
        </p:xfrm>
        <a:graphic>
          <a:graphicData uri="http://schemas.openxmlformats.org/drawingml/2006/table">
            <a:tbl>
              <a:tblPr/>
              <a:tblGrid>
                <a:gridCol w="3665483">
                  <a:extLst>
                    <a:ext uri="{9D8B030D-6E8A-4147-A177-3AD203B41FA5}">
                      <a16:colId xmlns:a16="http://schemas.microsoft.com/office/drawing/2014/main" val="2181790107"/>
                    </a:ext>
                  </a:extLst>
                </a:gridCol>
                <a:gridCol w="7005267">
                  <a:extLst>
                    <a:ext uri="{9D8B030D-6E8A-4147-A177-3AD203B41FA5}">
                      <a16:colId xmlns:a16="http://schemas.microsoft.com/office/drawing/2014/main" val="782072508"/>
                    </a:ext>
                  </a:extLst>
                </a:gridCol>
              </a:tblGrid>
              <a:tr h="808074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Riesgo Financiero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Ejemplo:</a:t>
                      </a:r>
                      <a:r>
                        <a:rPr kumimoji="0" lang="es-E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Alta inversión en </a:t>
                      </a:r>
                      <a:r>
                        <a:rPr kumimoji="0" lang="es-E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Capex</a:t>
                      </a:r>
                      <a:r>
                        <a:rPr kumimoji="0" lang="es-E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- Mal historial crediticio con el cliente.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1539633"/>
                  </a:ext>
                </a:extLst>
              </a:tr>
              <a:tr h="101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Riesgo de Implementación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Ejemplo: </a:t>
                      </a:r>
                      <a:r>
                        <a:rPr kumimoji="0" lang="es-E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Menos de XX días para implementar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173222"/>
                  </a:ext>
                </a:extLst>
              </a:tr>
              <a:tr h="891104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Riesgo de plazos de entrega propuesta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Definir en conjunto a preventa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2844866"/>
                  </a:ext>
                </a:extLst>
              </a:tr>
              <a:tr h="9198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Riesgos de certificaciones y/o nivel de </a:t>
                      </a:r>
                      <a:r>
                        <a:rPr lang="es-CL" sz="16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partnership</a:t>
                      </a:r>
                      <a:endParaRPr lang="es-CL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Ejemplo: </a:t>
                      </a:r>
                      <a:r>
                        <a:rPr kumimoji="0" lang="es-E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No contamos con la certificación de Azure </a:t>
                      </a:r>
                      <a:r>
                        <a:rPr kumimoji="0" lang="es-E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Architect</a:t>
                      </a:r>
                      <a:endParaRPr kumimoji="0" lang="es-E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060542"/>
                  </a:ext>
                </a:extLst>
              </a:tr>
              <a:tr h="1004996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Riesgo presupuestario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Ejemplo: </a:t>
                      </a:r>
                      <a:r>
                        <a:rPr kumimoji="0" lang="es-E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Cliente posee poco presupuesto y un estimado no da para llegar a acuerdo.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0758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9972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0B85E-8181-AB20-AD44-79BE59C11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2A889-4808-64C7-6AB5-2776E212C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668" y="338277"/>
            <a:ext cx="8602663" cy="431800"/>
          </a:xfrm>
        </p:spPr>
        <p:txBody>
          <a:bodyPr anchor="t">
            <a:noAutofit/>
          </a:bodyPr>
          <a:lstStyle/>
          <a:p>
            <a:pPr>
              <a:defRPr/>
            </a:pPr>
            <a:r>
              <a:rPr lang="es-ES" sz="2900" dirty="0">
                <a:solidFill>
                  <a:schemeClr val="bg1"/>
                </a:solidFill>
                <a:ea typeface="+mn-ea"/>
                <a:cs typeface="Arial"/>
              </a:rPr>
              <a:t>Matriz de Riesgo</a:t>
            </a:r>
            <a:endParaRPr lang="es-ES" sz="2900" cap="all" dirty="0">
              <a:solidFill>
                <a:schemeClr val="bg1"/>
              </a:solidFill>
              <a:highlight>
                <a:srgbClr val="FFFF00"/>
              </a:highlight>
              <a:cs typeface="Arial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5E9D249-DB8A-3EEF-EB28-9DECF5035D10}"/>
              </a:ext>
            </a:extLst>
          </p:cNvPr>
          <p:cNvGraphicFramePr>
            <a:graphicFrameLocks noGrp="1"/>
          </p:cNvGraphicFramePr>
          <p:nvPr/>
        </p:nvGraphicFramePr>
        <p:xfrm>
          <a:off x="923544" y="2523744"/>
          <a:ext cx="9369806" cy="1968086"/>
        </p:xfrm>
        <a:graphic>
          <a:graphicData uri="http://schemas.openxmlformats.org/drawingml/2006/table">
            <a:tbl>
              <a:tblPr/>
              <a:tblGrid>
                <a:gridCol w="2282207">
                  <a:extLst>
                    <a:ext uri="{9D8B030D-6E8A-4147-A177-3AD203B41FA5}">
                      <a16:colId xmlns:a16="http://schemas.microsoft.com/office/drawing/2014/main" val="2767928212"/>
                    </a:ext>
                  </a:extLst>
                </a:gridCol>
                <a:gridCol w="4992318">
                  <a:extLst>
                    <a:ext uri="{9D8B030D-6E8A-4147-A177-3AD203B41FA5}">
                      <a16:colId xmlns:a16="http://schemas.microsoft.com/office/drawing/2014/main" val="1828380267"/>
                    </a:ext>
                  </a:extLst>
                </a:gridCol>
                <a:gridCol w="2095281">
                  <a:extLst>
                    <a:ext uri="{9D8B030D-6E8A-4147-A177-3AD203B41FA5}">
                      <a16:colId xmlns:a16="http://schemas.microsoft.com/office/drawing/2014/main" val="1745320678"/>
                    </a:ext>
                  </a:extLst>
                </a:gridCol>
              </a:tblGrid>
              <a:tr h="59639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Competidor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Ventajas de STI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Desventajas de </a:t>
                      </a:r>
                      <a:r>
                        <a:rPr lang="es-ES" sz="16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Gtd</a:t>
                      </a:r>
                      <a:endParaRPr lang="es-E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994422"/>
                  </a:ext>
                </a:extLst>
              </a:tr>
              <a:tr h="457232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116364"/>
                  </a:ext>
                </a:extLst>
              </a:tr>
              <a:tr h="457232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266325"/>
                  </a:ext>
                </a:extLst>
              </a:tr>
              <a:tr h="457232">
                <a:tc>
                  <a:txBody>
                    <a:bodyPr/>
                    <a:lstStyle/>
                    <a:p>
                      <a:pPr algn="just" rtl="0" fontAlgn="ctr"/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209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5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B4FE7-D98F-4BDC-B37A-43FAA079F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240" y="349163"/>
            <a:ext cx="8602663" cy="431800"/>
          </a:xfrm>
        </p:spPr>
        <p:txBody>
          <a:bodyPr anchor="t">
            <a:noAutofit/>
          </a:bodyPr>
          <a:lstStyle/>
          <a:p>
            <a:pPr algn="l">
              <a:defRPr/>
            </a:pPr>
            <a:r>
              <a:rPr lang="es-ES" sz="2900" dirty="0">
                <a:solidFill>
                  <a:schemeClr val="bg1"/>
                </a:solidFill>
                <a:ea typeface="+mn-ea"/>
                <a:cs typeface="Arial"/>
              </a:rPr>
              <a:t>Multas del proyecto (Obligatorio si es licitación)</a:t>
            </a:r>
            <a:endParaRPr lang="es-ES" sz="2900" cap="all" dirty="0">
              <a:solidFill>
                <a:schemeClr val="bg1"/>
              </a:solidFill>
              <a:highlight>
                <a:srgbClr val="FFFF00"/>
              </a:highlight>
              <a:cs typeface="Arial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5822082-3A4B-4446-81E0-1B3509619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050623"/>
              </p:ext>
            </p:extLst>
          </p:nvPr>
        </p:nvGraphicFramePr>
        <p:xfrm>
          <a:off x="1411097" y="1888476"/>
          <a:ext cx="9369806" cy="2004884"/>
        </p:xfrm>
        <a:graphic>
          <a:graphicData uri="http://schemas.openxmlformats.org/drawingml/2006/table">
            <a:tbl>
              <a:tblPr/>
              <a:tblGrid>
                <a:gridCol w="2282207">
                  <a:extLst>
                    <a:ext uri="{9D8B030D-6E8A-4147-A177-3AD203B41FA5}">
                      <a16:colId xmlns:a16="http://schemas.microsoft.com/office/drawing/2014/main" val="2767928212"/>
                    </a:ext>
                  </a:extLst>
                </a:gridCol>
                <a:gridCol w="4992318">
                  <a:extLst>
                    <a:ext uri="{9D8B030D-6E8A-4147-A177-3AD203B41FA5}">
                      <a16:colId xmlns:a16="http://schemas.microsoft.com/office/drawing/2014/main" val="1828380267"/>
                    </a:ext>
                  </a:extLst>
                </a:gridCol>
                <a:gridCol w="2095281">
                  <a:extLst>
                    <a:ext uri="{9D8B030D-6E8A-4147-A177-3AD203B41FA5}">
                      <a16:colId xmlns:a16="http://schemas.microsoft.com/office/drawing/2014/main" val="1745320678"/>
                    </a:ext>
                  </a:extLst>
                </a:gridCol>
              </a:tblGrid>
              <a:tr h="59639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Tipo Multa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Tópico de multa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¿Cómo se valoriza la multa?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994422"/>
                  </a:ext>
                </a:extLst>
              </a:tr>
              <a:tr h="4572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Implementación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Retraso en la implementación x día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UF x Día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116364"/>
                  </a:ext>
                </a:extLst>
              </a:tr>
              <a:tr h="4572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SLA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Disponibilidad del 99,5%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</a:t>
                      </a:r>
                      <a:r>
                        <a:rPr lang="es-E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UF x Hora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266325"/>
                  </a:ext>
                </a:extLst>
              </a:tr>
              <a:tr h="4572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Atención Post Venta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</a:t>
                      </a:r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Tiempo de resolución de tickets / Plataforma eficiente de atención post venta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Ejemplo: 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0,05 UF por hora de retraso</a:t>
                      </a:r>
                      <a:endParaRPr lang="es-E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209007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7E850EDB-4578-75CA-EA35-00728ACE1191}"/>
              </a:ext>
            </a:extLst>
          </p:cNvPr>
          <p:cNvSpPr/>
          <p:nvPr/>
        </p:nvSpPr>
        <p:spPr>
          <a:xfrm>
            <a:off x="1411097" y="4876800"/>
            <a:ext cx="9369806" cy="631371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enunciar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las </a:t>
            </a:r>
            <a:r>
              <a:rPr lang="en-US" dirty="0" err="1"/>
              <a:t>multas</a:t>
            </a:r>
            <a:r>
              <a:rPr lang="en-US" dirty="0"/>
              <a:t> del Proyecto, </a:t>
            </a:r>
            <a:r>
              <a:rPr lang="en-US" dirty="0" err="1"/>
              <a:t>según</a:t>
            </a:r>
            <a:r>
              <a:rPr lang="en-US" dirty="0"/>
              <a:t> la base de </a:t>
            </a:r>
            <a:r>
              <a:rPr lang="en-US" dirty="0" err="1"/>
              <a:t>licitación</a:t>
            </a:r>
            <a:r>
              <a:rPr lang="en-US" dirty="0"/>
              <a:t> o </a:t>
            </a:r>
            <a:r>
              <a:rPr lang="en-US" dirty="0" err="1"/>
              <a:t>compra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99625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8461DED-951A-4CA0-901D-C08151593C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2900">
                <a:solidFill>
                  <a:schemeClr val="bg1"/>
                </a:solidFill>
                <a:latin typeface="+mj-lt"/>
              </a:rPr>
              <a:t>Acta de Aprobación</a:t>
            </a:r>
            <a:endParaRPr lang="es-CL" sz="290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1B0D97A5-CC9F-4F8F-B9CD-9FDF77C9F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872675"/>
              </p:ext>
            </p:extLst>
          </p:nvPr>
        </p:nvGraphicFramePr>
        <p:xfrm>
          <a:off x="4010024" y="5863907"/>
          <a:ext cx="417195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1951">
                  <a:extLst>
                    <a:ext uri="{9D8B030D-6E8A-4147-A177-3AD203B41FA5}">
                      <a16:colId xmlns:a16="http://schemas.microsoft.com/office/drawing/2014/main" val="642667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s-CL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391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Director de Vertical - Nombre</a:t>
                      </a:r>
                      <a:endParaRPr lang="es-CL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091133"/>
                  </a:ext>
                </a:extLst>
              </a:tr>
            </a:tbl>
          </a:graphicData>
        </a:graphic>
      </p:graphicFrame>
      <p:graphicFrame>
        <p:nvGraphicFramePr>
          <p:cNvPr id="10" name="Tabla 7">
            <a:extLst>
              <a:ext uri="{FF2B5EF4-FFF2-40B4-BE49-F238E27FC236}">
                <a16:creationId xmlns:a16="http://schemas.microsoft.com/office/drawing/2014/main" id="{C7E05E80-8507-4CDC-A1C9-30F03A245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297941"/>
              </p:ext>
            </p:extLst>
          </p:nvPr>
        </p:nvGraphicFramePr>
        <p:xfrm>
          <a:off x="527052" y="2405417"/>
          <a:ext cx="11170202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240">
                  <a:extLst>
                    <a:ext uri="{9D8B030D-6E8A-4147-A177-3AD203B41FA5}">
                      <a16:colId xmlns:a16="http://schemas.microsoft.com/office/drawing/2014/main" val="15378071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07626009"/>
                    </a:ext>
                  </a:extLst>
                </a:gridCol>
                <a:gridCol w="856696">
                  <a:extLst>
                    <a:ext uri="{9D8B030D-6E8A-4147-A177-3AD203B41FA5}">
                      <a16:colId xmlns:a16="http://schemas.microsoft.com/office/drawing/2014/main" val="3733599130"/>
                    </a:ext>
                  </a:extLst>
                </a:gridCol>
                <a:gridCol w="4710666">
                  <a:extLst>
                    <a:ext uri="{9D8B030D-6E8A-4147-A177-3AD203B41FA5}">
                      <a16:colId xmlns:a16="http://schemas.microsoft.com/office/drawing/2014/main" val="1694184289"/>
                    </a:ext>
                  </a:extLst>
                </a:gridCol>
              </a:tblGrid>
              <a:tr h="259715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bg1"/>
                          </a:solidFill>
                          <a:latin typeface="+mn-lt"/>
                        </a:rPr>
                        <a:t>Comité 1</a:t>
                      </a:r>
                      <a:endParaRPr lang="es-CL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solidFill>
                            <a:schemeClr val="bg1"/>
                          </a:solidFill>
                          <a:latin typeface="+mn-lt"/>
                        </a:rPr>
                        <a:t>Nombre</a:t>
                      </a:r>
                      <a:endParaRPr lang="es-CL" sz="140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solidFill>
                            <a:schemeClr val="bg1"/>
                          </a:solidFill>
                          <a:latin typeface="+mn-lt"/>
                        </a:rPr>
                        <a:t>Aprueba</a:t>
                      </a:r>
                      <a:endParaRPr lang="es-CL" sz="140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bg1"/>
                          </a:solidFill>
                          <a:latin typeface="+mn-lt"/>
                        </a:rPr>
                        <a:t>Observaciones y/o Pendientes</a:t>
                      </a:r>
                      <a:endParaRPr lang="es-CL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91058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r>
                        <a:rPr lang="es-ES" sz="1400">
                          <a:solidFill>
                            <a:schemeClr val="tx1"/>
                          </a:solidFill>
                          <a:latin typeface="+mn-lt"/>
                        </a:rPr>
                        <a:t>Ejecutivo de Cuentas</a:t>
                      </a:r>
                      <a:endParaRPr lang="es-CL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829400"/>
                  </a:ext>
                </a:extLst>
              </a:tr>
              <a:tr h="221615">
                <a:tc>
                  <a:txBody>
                    <a:bodyPr/>
                    <a:lstStyle/>
                    <a:p>
                      <a:r>
                        <a:rPr lang="es-ES" sz="1400">
                          <a:solidFill>
                            <a:schemeClr val="tx1"/>
                          </a:solidFill>
                          <a:latin typeface="+mn-lt"/>
                        </a:rPr>
                        <a:t>Director de Vertical</a:t>
                      </a:r>
                      <a:endParaRPr lang="es-CL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542971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r>
                        <a:rPr lang="es-ES" sz="1400">
                          <a:solidFill>
                            <a:schemeClr val="tx1"/>
                          </a:solidFill>
                          <a:latin typeface="+mn-lt"/>
                        </a:rPr>
                        <a:t>Arquitecto TI</a:t>
                      </a:r>
                      <a:endParaRPr lang="es-CL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847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89984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4E95361-02BB-3B85-5F45-6FC12D130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" y="894"/>
            <a:ext cx="12188825" cy="685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1956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GTD (002)  -  Solo lectura" id="{B30C8E02-C799-4042-9302-615615931846}" vid="{A816AFBE-F831-49CA-AABC-52FC0D963C6D}"/>
    </a:ext>
  </a:extLst>
</a:theme>
</file>

<file path=ppt/theme/theme2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 GTD (002)  -  Solo lectura" id="{B30C8E02-C799-4042-9302-615615931846}" vid="{C75F492C-D632-41B2-886C-A96CB94A60DB}"/>
    </a:ext>
  </a:extLst>
</a:theme>
</file>

<file path=ppt/theme/theme3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 GTD (002)  -  Solo lectura" id="{B30C8E02-C799-4042-9302-615615931846}" vid="{DF5FF163-67E7-4DCC-AF0D-4DC36240724C}"/>
    </a:ext>
  </a:extLst>
</a:theme>
</file>

<file path=ppt/theme/theme4.xml><?xml version="1.0" encoding="utf-8"?>
<a:theme xmlns:a="http://schemas.openxmlformats.org/drawingml/2006/main" name="6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 GTD (002)  -  Solo lectura" id="{B30C8E02-C799-4042-9302-615615931846}" vid="{771CF604-18F8-4CAD-AC9E-8950ED6A206B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entarios xmlns="1b826e37-b187-4e75-ae45-17455b47d5c0" xsi:nil="true"/>
    <Detalle xmlns="1b826e37-b187-4e75-ae45-17455b47d5c0" xsi:nil="true"/>
    <TaxCatchAll xmlns="8032b4a1-8984-4fd3-919e-9d7d6b8797b5" xsi:nil="true"/>
    <lcf76f155ced4ddcb4097134ff3c332f xmlns="1b826e37-b187-4e75-ae45-17455b47d5c0">
      <Terms xmlns="http://schemas.microsoft.com/office/infopath/2007/PartnerControls"/>
    </lcf76f155ced4ddcb4097134ff3c332f>
    <fecha xmlns="1b826e37-b187-4e75-ae45-17455b47d5c0" xsi:nil="true"/>
    <Informaci_x00f3_n xmlns="1b826e37-b187-4e75-ae45-17455b47d5c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FABF267F76E0E4687D48E9ADCED6510" ma:contentTypeVersion="21" ma:contentTypeDescription="Crear nuevo documento." ma:contentTypeScope="" ma:versionID="5fb9eddd00a3a47dc9e5fdc9c3f25efe">
  <xsd:schema xmlns:xsd="http://www.w3.org/2001/XMLSchema" xmlns:xs="http://www.w3.org/2001/XMLSchema" xmlns:p="http://schemas.microsoft.com/office/2006/metadata/properties" xmlns:ns2="1b826e37-b187-4e75-ae45-17455b47d5c0" xmlns:ns3="8032b4a1-8984-4fd3-919e-9d7d6b8797b5" targetNamespace="http://schemas.microsoft.com/office/2006/metadata/properties" ma:root="true" ma:fieldsID="75a434feb0ddb2c1f274c8bdf029a799" ns2:_="" ns3:_="">
    <xsd:import namespace="1b826e37-b187-4e75-ae45-17455b47d5c0"/>
    <xsd:import namespace="8032b4a1-8984-4fd3-919e-9d7d6b8797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Comentarios" minOccurs="0"/>
                <xsd:element ref="ns2:fecha" minOccurs="0"/>
                <xsd:element ref="ns2:Detalle" minOccurs="0"/>
                <xsd:element ref="ns2:Informaci_x00f3_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26e37-b187-4e75-ae45-17455b47d5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b4ac2041-8bf4-4636-9757-4c3690b427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Comentarios" ma:index="23" nillable="true" ma:displayName="Comentarios" ma:description="Sin cambios" ma:format="Dropdown" ma:internalName="Comentarios">
      <xsd:simpleType>
        <xsd:restriction base="dms:Text">
          <xsd:maxLength value="255"/>
        </xsd:restriction>
      </xsd:simpleType>
    </xsd:element>
    <xsd:element name="fecha" ma:index="24" nillable="true" ma:displayName="fecha" ma:format="DateOnly" ma:internalName="fecha">
      <xsd:simpleType>
        <xsd:restriction base="dms:DateTime"/>
      </xsd:simpleType>
    </xsd:element>
    <xsd:element name="Detalle" ma:index="25" nillable="true" ma:displayName="Detalle" ma:description="Actualizacion" ma:format="Dropdown" ma:internalName="Detalle">
      <xsd:simpleType>
        <xsd:restriction base="dms:Note"/>
      </xsd:simpleType>
    </xsd:element>
    <xsd:element name="Informaci_x00f3_n" ma:index="26" nillable="true" ma:displayName="Información" ma:description="Se corrige glosa de descuento del Duo Migracion" ma:format="Dropdown" ma:internalName="Informaci_x00f3_n">
      <xsd:simpleType>
        <xsd:restriction base="dms:Note"/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32b4a1-8984-4fd3-919e-9d7d6b8797b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4b7bb3c-067a-4a62-9b29-ac69d937ac23}" ma:internalName="TaxCatchAll" ma:showField="CatchAllData" ma:web="8032b4a1-8984-4fd3-919e-9d7d6b879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33607F-2553-42A0-8777-530560213F1D}">
  <ds:schemaRefs>
    <ds:schemaRef ds:uri="d7e6f937-5f3f-4930-b5a2-ff06323de706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http://www.w3.org/XML/1998/namespace"/>
    <ds:schemaRef ds:uri="http://schemas.openxmlformats.org/package/2006/metadata/core-properties"/>
    <ds:schemaRef ds:uri="80e67e5a-eecc-4212-89c5-19004f368525"/>
    <ds:schemaRef ds:uri="http://schemas.microsoft.com/office/2006/metadata/properties"/>
    <ds:schemaRef ds:uri="1b826e37-b187-4e75-ae45-17455b47d5c0"/>
    <ds:schemaRef ds:uri="8032b4a1-8984-4fd3-919e-9d7d6b8797b5"/>
  </ds:schemaRefs>
</ds:datastoreItem>
</file>

<file path=customXml/itemProps2.xml><?xml version="1.0" encoding="utf-8"?>
<ds:datastoreItem xmlns:ds="http://schemas.openxmlformats.org/officeDocument/2006/customXml" ds:itemID="{C71D0F8D-E4BA-4111-9E56-32DAF42C99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826e37-b187-4e75-ae45-17455b47d5c0"/>
    <ds:schemaRef ds:uri="8032b4a1-8984-4fd3-919e-9d7d6b8797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7D52BF-F4F8-43AA-8F5B-4DC68B30CC3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12f520d-f6ca-493e-ad55-86ec0bec16c0}" enabled="0" method="" siteId="{012f520d-f6ca-493e-ad55-86ec0bec16c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Plan de Cuentas gtd 2019</Template>
  <TotalTime>392</TotalTime>
  <Words>1252</Words>
  <Application>Microsoft Office PowerPoint</Application>
  <PresentationFormat>Panorámica</PresentationFormat>
  <Paragraphs>187</Paragraphs>
  <Slides>14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Arial</vt:lpstr>
      <vt:lpstr>Arial Narrow</vt:lpstr>
      <vt:lpstr>Calibri</vt:lpstr>
      <vt:lpstr>Calibri Light</vt:lpstr>
      <vt:lpstr>Tema de Office</vt:lpstr>
      <vt:lpstr>3_Diseño personalizado</vt:lpstr>
      <vt:lpstr>2_Diseño personalizado</vt:lpstr>
      <vt:lpstr>6_Diseño personalizado</vt:lpstr>
      <vt:lpstr>Presentación de PowerPoint</vt:lpstr>
      <vt:lpstr>Resumen de la Oportunidad – Alcance General</vt:lpstr>
      <vt:lpstr>Matriz de Calificación</vt:lpstr>
      <vt:lpstr>Matriz de Calificación</vt:lpstr>
      <vt:lpstr>Matriz de Riesgo</vt:lpstr>
      <vt:lpstr>Matriz de Riesgo</vt:lpstr>
      <vt:lpstr>¿Con qué solución y/o oferta cubrimos el requerimiento del cliente? </vt:lpstr>
      <vt:lpstr>Proceso Compra</vt:lpstr>
      <vt:lpstr>Plazos de cotización y adjudicación</vt:lpstr>
      <vt:lpstr>Riesgos Declarados por el Área comercial</vt:lpstr>
      <vt:lpstr>Matriz de Riesgo</vt:lpstr>
      <vt:lpstr>Multas del proyecto (Obligatorio si es licitación)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Matias Gil</dc:creator>
  <cp:lastModifiedBy>Gabriel Luciano Martinez Perez</cp:lastModifiedBy>
  <cp:revision>56</cp:revision>
  <dcterms:created xsi:type="dcterms:W3CDTF">2020-01-17T14:03:57Z</dcterms:created>
  <dcterms:modified xsi:type="dcterms:W3CDTF">2026-09-24T17:57:54Z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0x0101001FABF267F76E0E4687D48E9ADCED6510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</Properties>
</file>